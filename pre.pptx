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>
        <p:scale>
          <a:sx n="100" d="100"/>
          <a:sy n="100" d="100"/>
        </p:scale>
        <p:origin x="48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345AB-4918-A3C6-07EB-8F51E4D163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83ED9B-572B-2E32-9511-6FA7CDF51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614ED7-60D7-276E-72D6-F5CEB43E4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930EC3-059F-19DA-321D-3088F9D20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09C4ED-E96F-CB90-D1DF-94CAFCF61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11230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4A6335-EB8D-0996-B620-1C6E3019F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54212B-53B9-9CAC-1D1F-4A7A75E0A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2E6C8A-807B-389A-FC4A-5C6DAACF3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A914EA-6E54-68CA-F991-3EF1E2044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738BE9-FA02-FB6D-5CE6-7E1315679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2727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248C93-833F-A2BE-E8B7-12498647D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CE8077-0099-BA32-EA48-CA95CD3C1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ACE4D3-F098-A31E-66AA-211700D11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F1E871-8BFF-EC5A-9FA7-501782250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77F1B7-7EFE-EF90-5B38-683793F86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38018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200F3-390B-FE9B-69C2-6A6E79A44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ADFE7C-DE5D-A552-BCE2-374DB58F4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4E531C1-EFB7-732A-C644-984B717951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590C1C-DC31-89A7-5AA7-85F3BD6EA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B97553B-38C8-A7AF-4D37-6596AF1E2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2AF5D5-DFBC-A756-0E2C-5EBB5AD7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4580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721A46-A09A-B0B3-8484-8C644239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B542D1-420B-9AD2-9D5A-7DEE2B0B1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9F61D18-79D3-41B0-F764-8EFA1B7FF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4D64B-8E7A-5CB1-EC72-4BB5DB6F4C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083DE9-8A5B-9C51-E0AB-CEA81E802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8FCEC1C-D533-9E11-B798-D922A68FE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824DC2-0988-38F5-F26D-676FCACAC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FF968E0-E6CC-A265-4ABD-0D84796F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0841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837E1C-9F38-0467-C2E3-B962FD19B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E3DD377-18AC-98E6-A410-2B7201AF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AFADFB-121D-1250-8FA8-C4AF5C15C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F6999BC-0D38-BCB2-91BC-A354E9B8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802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9B9BD8-2D18-7D32-8E5F-47B305A49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DB62A6-C928-686E-41B9-1F3399F5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6BF58E-5E1C-8C40-4E30-47232E65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2776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54322E-5EFC-47A8-AE69-6DC78E4C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4AC571-3A79-62E5-C059-3E817B592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8F55D2-D854-4934-146E-698A8EB1A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958C51-41D5-9B13-1D68-72AD18D59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25DBE1-7A5E-D5A4-B754-56DFE5E89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ED28BB-C832-9590-05B8-588831822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3117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15FC26-7BF0-6D4D-9F02-E4ECDFC26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2F622B3-3DEC-E41A-C4B6-37BCDA113A4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B7D9BCF-AF50-24CA-1CAA-3EEBC7A4E7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4904053-3E67-E7E1-C574-561A5907C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D6BD51-6B37-B2E1-7F04-A6B85F56A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3881678-F211-5357-0563-83E5F2EA2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0186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783E4-653F-7418-0112-4742EFDB9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C7147-45B5-F15D-799B-532D0926C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3176D3-C25A-5F5A-2F1A-8C1D3FB8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DD8BB2-D42C-5247-6A30-BBDA42B9F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A69391-C2D4-63BD-8A08-8C461549B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0001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8851AE9-C101-D034-4010-24457FBBA5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E202F57-C2D5-A713-1B12-C051F25605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733378-3645-A5CD-997B-89011F352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CADC74-9320-515D-808B-655147525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7A8D7C-2EAA-1C9D-F0CD-0B2DA1FCF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3804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D70F71B-6504-D1D4-67FA-5A98F3A9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026589-44C3-343E-8D47-6BFDD0DE8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9B12F4-8174-06BE-8FB4-99DCDAEC83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C4C883-4F8E-D34E-94FD-1282DC67D150}" type="datetimeFigureOut">
              <a:rPr kumimoji="1" lang="zh-CN" altLang="en-US" smtClean="0"/>
              <a:t>2026/10/31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732FD2-C9E9-4922-7D1C-D730D50D7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E30811-1FE5-ABC2-F3F0-20948B38D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6034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F09B76-04DD-0DED-6BE5-B9BF37BAF7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0941" y="1041400"/>
            <a:ext cx="10130118" cy="2387600"/>
          </a:xfrm>
        </p:spPr>
        <p:txBody>
          <a:bodyPr>
            <a:noAutofit/>
          </a:bodyPr>
          <a:lstStyle/>
          <a:p>
            <a:r>
              <a:rPr kumimoji="1" lang="en-GB" altLang="zh-CN" sz="3600"/>
              <a:t>Stability Analysis of Foot Placement Methods for</a:t>
            </a:r>
            <a:br>
              <a:rPr kumimoji="1" lang="en-GB" altLang="zh-CN" sz="3600"/>
            </a:br>
            <a:r>
              <a:rPr kumimoji="1" lang="en-GB" altLang="zh-CN" sz="3600"/>
              <a:t>Model Predictive Control-based Quadrupedal</a:t>
            </a:r>
            <a:br>
              <a:rPr kumimoji="1" lang="en-GB" altLang="zh-CN" sz="3600"/>
            </a:br>
            <a:r>
              <a:rPr kumimoji="1" lang="en-GB" altLang="zh-CN" sz="3600"/>
              <a:t>Trotting</a:t>
            </a:r>
            <a:endParaRPr kumimoji="1" lang="zh-CN" altLang="en-US" sz="360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33F7F8-46C9-BAF6-B71C-AABB1EE255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/>
              <a:t>Liwei Mei, Qi Guo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4642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A95E442-36D0-88A8-A099-53143233BDC4}"/>
                  </a:ext>
                </a:extLst>
              </p:cNvPr>
              <p:cNvSpPr txBox="1"/>
              <p:nvPr/>
            </p:nvSpPr>
            <p:spPr>
              <a:xfrm>
                <a:off x="2529683" y="1370636"/>
                <a:ext cx="1517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A95E442-36D0-88A8-A099-53143233B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9683" y="1370636"/>
                <a:ext cx="1517531" cy="276999"/>
              </a:xfrm>
              <a:prstGeom prst="rect">
                <a:avLst/>
              </a:prstGeom>
              <a:blipFill>
                <a:blip r:embed="rId2"/>
                <a:stretch>
                  <a:fillRect l="-1606" t="-2222" r="-4819" b="-3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AE06144B-072F-C2DD-CDA7-82A0D67AA3BC}"/>
              </a:ext>
            </a:extLst>
          </p:cNvPr>
          <p:cNvSpPr txBox="1"/>
          <p:nvPr/>
        </p:nvSpPr>
        <p:spPr>
          <a:xfrm>
            <a:off x="185420" y="242570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Background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2B6F3F-EB1C-AEB2-D06B-0FE50C66750F}"/>
              </a:ext>
            </a:extLst>
          </p:cNvPr>
          <p:cNvSpPr txBox="1"/>
          <p:nvPr/>
        </p:nvSpPr>
        <p:spPr>
          <a:xfrm>
            <a:off x="185420" y="790853"/>
            <a:ext cx="77235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 </a:t>
            </a:r>
            <a:r>
              <a:rPr lang="en-US" altLang="zh-CN" dirty="0" err="1"/>
              <a:t>Simplication</a:t>
            </a:r>
            <a:r>
              <a:rPr lang="en-US" altLang="zh-CN" dirty="0"/>
              <a:t>: Torso (move in generalized coordinates) + massless legs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A87ADF-0FE0-464C-9FEA-562893E40C22}"/>
              </a:ext>
            </a:extLst>
          </p:cNvPr>
          <p:cNvSpPr txBox="1"/>
          <p:nvPr/>
        </p:nvSpPr>
        <p:spPr>
          <a:xfrm>
            <a:off x="185420" y="1324470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772488BA-EA37-8D8E-A263-F075B1499C3C}"/>
                  </a:ext>
                </a:extLst>
              </p:cNvPr>
              <p:cNvSpPr txBox="1"/>
              <p:nvPr/>
            </p:nvSpPr>
            <p:spPr>
              <a:xfrm>
                <a:off x="2529683" y="1752600"/>
                <a:ext cx="1817997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̇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772488BA-EA37-8D8E-A263-F075B1499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9683" y="1752600"/>
                <a:ext cx="1817997" cy="6722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8CB0D970-00ED-D257-F235-C36F570256BE}"/>
              </a:ext>
            </a:extLst>
          </p:cNvPr>
          <p:cNvSpPr txBox="1"/>
          <p:nvPr/>
        </p:nvSpPr>
        <p:spPr>
          <a:xfrm>
            <a:off x="185420" y="1858086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Dynamics model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E1296F-3E54-7B8E-4995-6964789A741D}"/>
                  </a:ext>
                </a:extLst>
              </p:cNvPr>
              <p:cNvSpPr txBox="1"/>
              <p:nvPr/>
            </p:nvSpPr>
            <p:spPr>
              <a:xfrm>
                <a:off x="4923633" y="1752600"/>
                <a:ext cx="1460976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𝐼</m:t>
                      </m:r>
                      <m:acc>
                        <m:accPr>
                          <m:chr m:val="̇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ac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E1296F-3E54-7B8E-4995-6964789A7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633" y="1752600"/>
                <a:ext cx="1460976" cy="6722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1F7F4401-1AC9-077E-365F-219603796C58}"/>
                  </a:ext>
                </a:extLst>
              </p:cNvPr>
              <p:cNvSpPr txBox="1"/>
              <p:nvPr/>
            </p:nvSpPr>
            <p:spPr>
              <a:xfrm>
                <a:off x="6960562" y="1950217"/>
                <a:ext cx="14568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dirty="0"/>
                  <a:t>stance legs</a:t>
                </a:r>
                <a:endParaRPr lang="zh-CN" altLang="en-US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1F7F4401-1AC9-077E-365F-219603796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562" y="1950217"/>
                <a:ext cx="1456809" cy="276999"/>
              </a:xfrm>
              <a:prstGeom prst="rect">
                <a:avLst/>
              </a:prstGeom>
              <a:blipFill>
                <a:blip r:embed="rId5"/>
                <a:stretch>
                  <a:fillRect l="-5858" t="-28889" r="-9205" b="-5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84E35AC0-19CA-772B-3D88-651896C13FDE}"/>
              </a:ext>
            </a:extLst>
          </p:cNvPr>
          <p:cNvSpPr txBox="1"/>
          <p:nvPr/>
        </p:nvSpPr>
        <p:spPr>
          <a:xfrm>
            <a:off x="185420" y="3178886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Controller</a:t>
            </a:r>
            <a:endParaRPr lang="zh-CN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E03EA7-9881-8568-0D0B-F252878C4445}"/>
              </a:ext>
            </a:extLst>
          </p:cNvPr>
          <p:cNvSpPr/>
          <p:nvPr/>
        </p:nvSpPr>
        <p:spPr>
          <a:xfrm>
            <a:off x="1799433" y="2963502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MPC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F29E9A-90FF-9CDD-DDB0-106FFFEA8E9E}"/>
              </a:ext>
            </a:extLst>
          </p:cNvPr>
          <p:cNvSpPr txBox="1"/>
          <p:nvPr/>
        </p:nvSpPr>
        <p:spPr>
          <a:xfrm>
            <a:off x="4667250" y="3244334"/>
            <a:ext cx="4196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Torso motion in generalized coordinates</a:t>
            </a:r>
            <a:endParaRPr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FDEE4B9-5CB7-F6E9-A4A7-8A4C05D7236A}"/>
              </a:ext>
            </a:extLst>
          </p:cNvPr>
          <p:cNvSpPr/>
          <p:nvPr/>
        </p:nvSpPr>
        <p:spPr>
          <a:xfrm>
            <a:off x="1799433" y="4302269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Gait Scheduler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6F2E3D-7EA6-9691-8EB2-451CE9BC5C77}"/>
              </a:ext>
            </a:extLst>
          </p:cNvPr>
          <p:cNvSpPr txBox="1"/>
          <p:nvPr/>
        </p:nvSpPr>
        <p:spPr>
          <a:xfrm>
            <a:off x="4978706" y="4379153"/>
            <a:ext cx="3323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Foot placement + Stance/swing</a:t>
            </a:r>
          </a:p>
          <a:p>
            <a:pPr algn="ctr"/>
            <a:r>
              <a:rPr lang="en-US" altLang="zh-CN" dirty="0"/>
              <a:t> phase planning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9527F5-D015-6FB9-30E1-1D9520694C36}"/>
              </a:ext>
            </a:extLst>
          </p:cNvPr>
          <p:cNvSpPr/>
          <p:nvPr/>
        </p:nvSpPr>
        <p:spPr>
          <a:xfrm>
            <a:off x="1799432" y="5641036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Joint</a:t>
            </a:r>
          </a:p>
          <a:p>
            <a:pPr algn="ctr"/>
            <a:r>
              <a:rPr lang="en-US" altLang="zh-CN" dirty="0"/>
              <a:t>Controller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9607ECC-8E7D-3BDD-1F7F-3B3D1AAA0593}"/>
              </a:ext>
            </a:extLst>
          </p:cNvPr>
          <p:cNvSpPr txBox="1"/>
          <p:nvPr/>
        </p:nvSpPr>
        <p:spPr>
          <a:xfrm>
            <a:off x="5029199" y="5856419"/>
            <a:ext cx="3451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PD controller + Inverse dynamics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A7AFA2D2-2502-CBD7-B930-B207A5063CE4}"/>
                  </a:ext>
                </a:extLst>
              </p:cNvPr>
              <p:cNvSpPr txBox="1"/>
              <p:nvPr/>
            </p:nvSpPr>
            <p:spPr>
              <a:xfrm>
                <a:off x="3778690" y="4433166"/>
                <a:ext cx="409023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A7AFA2D2-2502-CBD7-B930-B207A5063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90" y="4433166"/>
                <a:ext cx="409023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C65D6C8-4A18-65AE-5DAA-675F7124D2B7}"/>
                  </a:ext>
                </a:extLst>
              </p:cNvPr>
              <p:cNvSpPr txBox="1"/>
              <p:nvPr/>
            </p:nvSpPr>
            <p:spPr>
              <a:xfrm>
                <a:off x="3609043" y="3290501"/>
                <a:ext cx="768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C65D6C8-4A18-65AE-5DAA-675F7124D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9043" y="3290501"/>
                <a:ext cx="768608" cy="276999"/>
              </a:xfrm>
              <a:prstGeom prst="rect">
                <a:avLst/>
              </a:prstGeom>
              <a:blipFill>
                <a:blip r:embed="rId7"/>
                <a:stretch>
                  <a:fillRect l="-794" r="-7143" b="-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01C735D-79A0-878F-56D2-76D4EBE4E919}"/>
                  </a:ext>
                </a:extLst>
              </p:cNvPr>
              <p:cNvSpPr txBox="1"/>
              <p:nvPr/>
            </p:nvSpPr>
            <p:spPr>
              <a:xfrm>
                <a:off x="3598897" y="5902586"/>
                <a:ext cx="7670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01C735D-79A0-878F-56D2-76D4EBE4E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7" y="5902586"/>
                <a:ext cx="767005" cy="276999"/>
              </a:xfrm>
              <a:prstGeom prst="rect">
                <a:avLst/>
              </a:prstGeom>
              <a:blipFill>
                <a:blip r:embed="rId8"/>
                <a:stretch>
                  <a:fillRect l="-794" r="-6349" b="-65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7766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1FAB6-CAAE-38E7-1535-4637C8249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60F819B1-FF07-1AE9-B113-9C23028DB5F8}"/>
              </a:ext>
            </a:extLst>
          </p:cNvPr>
          <p:cNvSpPr txBox="1"/>
          <p:nvPr/>
        </p:nvSpPr>
        <p:spPr>
          <a:xfrm>
            <a:off x="185420" y="242570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Motivation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1AFA4A2-BD2A-2577-930C-417A5EBA9671}"/>
              </a:ext>
            </a:extLst>
          </p:cNvPr>
          <p:cNvSpPr txBox="1"/>
          <p:nvPr/>
        </p:nvSpPr>
        <p:spPr>
          <a:xfrm>
            <a:off x="185420" y="790853"/>
            <a:ext cx="28488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dirty="0"/>
              <a:t>Foot placement</a:t>
            </a:r>
          </a:p>
          <a:p>
            <a:pPr marL="342900" indent="-342900">
              <a:buAutoNum type="arabicPeriod"/>
            </a:pPr>
            <a:r>
              <a:rPr lang="en-US" altLang="zh-CN" dirty="0"/>
              <a:t>Phase ?</a:t>
            </a:r>
          </a:p>
          <a:p>
            <a:pPr marL="342900" indent="-342900">
              <a:buAutoNum type="arabicPeriod"/>
            </a:pPr>
            <a:r>
              <a:rPr lang="en-US" altLang="zh-CN" dirty="0"/>
              <a:t>Compatible with MPC ?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CF1CC3-39AF-17B0-C8F7-4AE33316CF0E}"/>
              </a:ext>
            </a:extLst>
          </p:cNvPr>
          <p:cNvSpPr txBox="1"/>
          <p:nvPr/>
        </p:nvSpPr>
        <p:spPr>
          <a:xfrm>
            <a:off x="2256904" y="6272879"/>
            <a:ext cx="4725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0" i="0" spc="29" dirty="0">
                <a:solidFill>
                  <a:schemeClr val="tx1"/>
                </a:solidFill>
                <a:effectLst/>
                <a:latin typeface="+mn-lt"/>
              </a:rPr>
              <a:t>Source: </a:t>
            </a:r>
            <a:r>
              <a:rPr lang="en-US" altLang="zh-CN" sz="1100" spc="29" dirty="0"/>
              <a:t>https://www.animatornotebook.com/learn/quadrupeds-gaits</a:t>
            </a:r>
            <a:endParaRPr lang="zh-CN" altLang="en-US" sz="1100" dirty="0"/>
          </a:p>
        </p:txBody>
      </p:sp>
      <p:pic>
        <p:nvPicPr>
          <p:cNvPr id="6" name="图片 5" descr="Footfall_trot.png">
            <a:extLst>
              <a:ext uri="{FF2B5EF4-FFF2-40B4-BE49-F238E27FC236}">
                <a16:creationId xmlns:a16="http://schemas.microsoft.com/office/drawing/2014/main" id="{F8FDEAC9-88F4-1798-1E46-573E5C5DA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139" y="4254274"/>
            <a:ext cx="7116339" cy="177908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BE01369-B902-EF4D-B180-D55C3863A337}"/>
              </a:ext>
            </a:extLst>
          </p:cNvPr>
          <p:cNvSpPr txBox="1"/>
          <p:nvPr/>
        </p:nvSpPr>
        <p:spPr>
          <a:xfrm>
            <a:off x="185420" y="2103120"/>
            <a:ext cx="1920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Objects of Study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AF6D05-D90D-82A4-3237-BCE0B4496297}"/>
              </a:ext>
            </a:extLst>
          </p:cNvPr>
          <p:cNvSpPr txBox="1"/>
          <p:nvPr/>
        </p:nvSpPr>
        <p:spPr>
          <a:xfrm>
            <a:off x="185420" y="2676723"/>
            <a:ext cx="220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Unitree Quadrupeds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4EEBBD8-1E6B-363F-87BD-2A89DFC30FF9}"/>
              </a:ext>
            </a:extLst>
          </p:cNvPr>
          <p:cNvSpPr txBox="1"/>
          <p:nvPr/>
        </p:nvSpPr>
        <p:spPr>
          <a:xfrm>
            <a:off x="185419" y="4057746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Trotting</a:t>
            </a:r>
            <a:endParaRPr lang="zh-CN" altLang="en-US" dirty="0"/>
          </a:p>
        </p:txBody>
      </p:sp>
      <p:pic>
        <p:nvPicPr>
          <p:cNvPr id="22" name="图片 21" descr="Robot Dog Go2_Quadruped_Robot Dog Company | Unitree Robotics">
            <a:extLst>
              <a:ext uri="{FF2B5EF4-FFF2-40B4-BE49-F238E27FC236}">
                <a16:creationId xmlns:a16="http://schemas.microsoft.com/office/drawing/2014/main" id="{ACEC7929-A828-3948-84F5-B13C01713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77" y="1893134"/>
            <a:ext cx="2774722" cy="2292999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F68E0426-E61A-1B08-A895-365C1785C822}"/>
              </a:ext>
            </a:extLst>
          </p:cNvPr>
          <p:cNvSpPr txBox="1"/>
          <p:nvPr/>
        </p:nvSpPr>
        <p:spPr>
          <a:xfrm>
            <a:off x="2256904" y="6464614"/>
            <a:ext cx="2665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0" i="0" spc="29" dirty="0">
                <a:solidFill>
                  <a:schemeClr val="tx1"/>
                </a:solidFill>
                <a:effectLst/>
                <a:latin typeface="+mn-lt"/>
              </a:rPr>
              <a:t>Source: https://youtu.be/oyTKvsnbCcE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31035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46AE-EF9C-22A0-1EE7-C06028DC6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ED674482-EA25-DA50-9857-CD6D21A83E4E}"/>
              </a:ext>
            </a:extLst>
          </p:cNvPr>
          <p:cNvSpPr txBox="1"/>
          <p:nvPr/>
        </p:nvSpPr>
        <p:spPr>
          <a:xfrm>
            <a:off x="185420" y="242570"/>
            <a:ext cx="280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Foot Placement methods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1E67BCE-22EB-7376-6EC3-8E3878B75EB0}"/>
              </a:ext>
            </a:extLst>
          </p:cNvPr>
          <p:cNvSpPr txBox="1"/>
          <p:nvPr/>
        </p:nvSpPr>
        <p:spPr>
          <a:xfrm>
            <a:off x="185420" y="898162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 Open loop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04776EA-4E42-1208-3110-B0918724EC83}"/>
                  </a:ext>
                </a:extLst>
              </p:cNvPr>
              <p:cNvSpPr txBox="1"/>
              <p:nvPr/>
            </p:nvSpPr>
            <p:spPr>
              <a:xfrm>
                <a:off x="4134925" y="898162"/>
                <a:ext cx="750526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04776EA-4E42-1208-3110-B0918724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898162"/>
                <a:ext cx="750526" cy="281937"/>
              </a:xfrm>
              <a:prstGeom prst="rect">
                <a:avLst/>
              </a:prstGeom>
              <a:blipFill>
                <a:blip r:embed="rId2"/>
                <a:stretch>
                  <a:fillRect l="-6504" t="-2128" r="-81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E98CAE0B-7DF3-055E-D920-1040B2578032}"/>
              </a:ext>
            </a:extLst>
          </p:cNvPr>
          <p:cNvSpPr txBox="1"/>
          <p:nvPr/>
        </p:nvSpPr>
        <p:spPr>
          <a:xfrm>
            <a:off x="185420" y="1717312"/>
            <a:ext cx="2893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2. Raibert Heuristic Method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03CA60D-AB84-FBC5-4EB5-656BE5ED8354}"/>
              </a:ext>
            </a:extLst>
          </p:cNvPr>
          <p:cNvSpPr txBox="1"/>
          <p:nvPr/>
        </p:nvSpPr>
        <p:spPr>
          <a:xfrm>
            <a:off x="185420" y="2582629"/>
            <a:ext cx="370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3. Linear inverted pendulum mode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8467A15-EBD8-01B1-0E79-A3E89B1CD85A}"/>
                  </a:ext>
                </a:extLst>
              </p:cNvPr>
              <p:cNvSpPr txBox="1"/>
              <p:nvPr/>
            </p:nvSpPr>
            <p:spPr>
              <a:xfrm>
                <a:off x="4134925" y="1592118"/>
                <a:ext cx="2186688" cy="578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8467A15-EBD8-01B1-0E79-A3E89B1CD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1592118"/>
                <a:ext cx="2186688" cy="5784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BA29339-443E-021C-4B80-873B1B6744C5}"/>
                  </a:ext>
                </a:extLst>
              </p:cNvPr>
              <p:cNvSpPr txBox="1"/>
              <p:nvPr/>
            </p:nvSpPr>
            <p:spPr>
              <a:xfrm>
                <a:off x="4134925" y="2486064"/>
                <a:ext cx="980140" cy="5597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BA29339-443E-021C-4B80-873B1B674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2486064"/>
                <a:ext cx="980140" cy="559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99A08A0D-DF28-F826-0432-D14068D5C5EA}"/>
              </a:ext>
            </a:extLst>
          </p:cNvPr>
          <p:cNvSpPr txBox="1"/>
          <p:nvPr/>
        </p:nvSpPr>
        <p:spPr>
          <a:xfrm>
            <a:off x="185420" y="4730508"/>
            <a:ext cx="3256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4. Optimization-based method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B56A6E0-C119-E464-3770-C3097CC2FDDF}"/>
              </a:ext>
            </a:extLst>
          </p:cNvPr>
          <p:cNvSpPr txBox="1"/>
          <p:nvPr/>
        </p:nvSpPr>
        <p:spPr>
          <a:xfrm>
            <a:off x="622300" y="3721374"/>
            <a:ext cx="306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+ Parameterized curve fitting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9185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1D841-F4FB-4B38-DADF-8E846184F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D1D645B3-8BE5-34A7-1C43-3C8E107D4A76}"/>
              </a:ext>
            </a:extLst>
          </p:cNvPr>
          <p:cNvSpPr txBox="1"/>
          <p:nvPr/>
        </p:nvSpPr>
        <p:spPr>
          <a:xfrm>
            <a:off x="185420" y="242570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Controller Formulation</a:t>
            </a:r>
            <a:endParaRPr lang="zh-CN" altLang="en-US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36F9C8-C82C-EAC0-9D64-7A89439A0955}"/>
              </a:ext>
            </a:extLst>
          </p:cNvPr>
          <p:cNvSpPr txBox="1"/>
          <p:nvPr/>
        </p:nvSpPr>
        <p:spPr>
          <a:xfrm>
            <a:off x="185420" y="882650"/>
            <a:ext cx="3419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MPC controller for torso motion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E24CDE-0A4B-594D-55CB-9701630885B1}"/>
              </a:ext>
            </a:extLst>
          </p:cNvPr>
          <p:cNvSpPr txBox="1"/>
          <p:nvPr/>
        </p:nvSpPr>
        <p:spPr>
          <a:xfrm>
            <a:off x="203537" y="1631950"/>
            <a:ext cx="2664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Discrete dynamics model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C1782B-3E78-126A-AFDD-FC6C0B5DAD38}"/>
              </a:ext>
            </a:extLst>
          </p:cNvPr>
          <p:cNvSpPr txBox="1"/>
          <p:nvPr/>
        </p:nvSpPr>
        <p:spPr>
          <a:xfrm>
            <a:off x="203537" y="2323584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Optimization formulation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9983BE2-0E92-8B7E-E7C8-4DDB76735D76}"/>
              </a:ext>
            </a:extLst>
          </p:cNvPr>
          <p:cNvSpPr txBox="1"/>
          <p:nvPr/>
        </p:nvSpPr>
        <p:spPr>
          <a:xfrm>
            <a:off x="203537" y="3015218"/>
            <a:ext cx="18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Phase constraint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668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82F8-1C94-97E6-A9B9-168C9C100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A1196BF4-5DDD-0197-1B59-1DAE04CBAFBD}"/>
              </a:ext>
            </a:extLst>
          </p:cNvPr>
          <p:cNvSpPr txBox="1"/>
          <p:nvPr/>
        </p:nvSpPr>
        <p:spPr>
          <a:xfrm>
            <a:off x="185420" y="242570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Controller Formulation</a:t>
            </a:r>
            <a:endParaRPr lang="zh-CN" altLang="en-US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406AADE-EA16-5800-A391-93909E86F3C1}"/>
              </a:ext>
            </a:extLst>
          </p:cNvPr>
          <p:cNvSpPr txBox="1"/>
          <p:nvPr/>
        </p:nvSpPr>
        <p:spPr>
          <a:xfrm>
            <a:off x="185420" y="882650"/>
            <a:ext cx="3047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PD controller for joint torque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9489834-0DE3-ED81-0B42-65518C668A63}"/>
              </a:ext>
            </a:extLst>
          </p:cNvPr>
          <p:cNvSpPr txBox="1"/>
          <p:nvPr/>
        </p:nvSpPr>
        <p:spPr>
          <a:xfrm>
            <a:off x="185420" y="1606550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Stance leg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BF33458-2284-74DC-2250-CCEDB6643B5D}"/>
              </a:ext>
            </a:extLst>
          </p:cNvPr>
          <p:cNvSpPr txBox="1"/>
          <p:nvPr/>
        </p:nvSpPr>
        <p:spPr>
          <a:xfrm>
            <a:off x="185420" y="2298184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Swing leg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9233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E33E-8344-119C-2418-749B7DB7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475F9863-7733-2B8F-1844-DF520329875A}"/>
              </a:ext>
            </a:extLst>
          </p:cNvPr>
          <p:cNvSpPr txBox="1"/>
          <p:nvPr/>
        </p:nvSpPr>
        <p:spPr>
          <a:xfrm>
            <a:off x="185420" y="24257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Metrics</a:t>
            </a:r>
            <a:endParaRPr lang="zh-CN" altLang="en-US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AFDED4-51A8-AAAD-DD8B-28C44396D0B9}"/>
              </a:ext>
            </a:extLst>
          </p:cNvPr>
          <p:cNvSpPr txBox="1"/>
          <p:nvPr/>
        </p:nvSpPr>
        <p:spPr>
          <a:xfrm>
            <a:off x="185420" y="1746250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Poincare segment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E30E36-B425-86E1-46CA-4B7363BD71CE}"/>
              </a:ext>
            </a:extLst>
          </p:cNvPr>
          <p:cNvSpPr txBox="1"/>
          <p:nvPr/>
        </p:nvSpPr>
        <p:spPr>
          <a:xfrm>
            <a:off x="185420" y="901700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Augmented state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DA82056-7644-2741-6DDC-691F8B08CDF9}"/>
              </a:ext>
            </a:extLst>
          </p:cNvPr>
          <p:cNvSpPr txBox="1"/>
          <p:nvPr/>
        </p:nvSpPr>
        <p:spPr>
          <a:xfrm>
            <a:off x="185420" y="2590800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Return map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FE9C30C-6A7E-E9C3-5B90-29856BF0E84B}"/>
              </a:ext>
            </a:extLst>
          </p:cNvPr>
          <p:cNvSpPr txBox="1"/>
          <p:nvPr/>
        </p:nvSpPr>
        <p:spPr>
          <a:xfrm>
            <a:off x="185420" y="3435350"/>
            <a:ext cx="19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Floquet</a:t>
            </a:r>
            <a:r>
              <a:rPr lang="en-US" altLang="zh-CN" dirty="0"/>
              <a:t> multiplier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4713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82401-8432-E02B-50EA-20382C5C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37895967-200D-BBA0-AE23-FB920EE076F0}"/>
              </a:ext>
            </a:extLst>
          </p:cNvPr>
          <p:cNvSpPr txBox="1"/>
          <p:nvPr/>
        </p:nvSpPr>
        <p:spPr>
          <a:xfrm>
            <a:off x="185420" y="242570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Tech Stack</a:t>
            </a:r>
            <a:endParaRPr lang="zh-CN" altLang="en-US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9266749-AFB6-5682-9559-E91F2140D59E}"/>
              </a:ext>
            </a:extLst>
          </p:cNvPr>
          <p:cNvSpPr txBox="1"/>
          <p:nvPr/>
        </p:nvSpPr>
        <p:spPr>
          <a:xfrm>
            <a:off x="185420" y="901700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Simulation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8894B90-49B2-321A-1B1C-E6B5DA87ABBE}"/>
              </a:ext>
            </a:extLst>
          </p:cNvPr>
          <p:cNvSpPr txBox="1"/>
          <p:nvPr/>
        </p:nvSpPr>
        <p:spPr>
          <a:xfrm>
            <a:off x="185420" y="1492250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MPC Solver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5608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243</Words>
  <Application>Microsoft Office PowerPoint</Application>
  <PresentationFormat>宽屏</PresentationFormat>
  <Paragraphs>57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Arial</vt:lpstr>
      <vt:lpstr>Cambria Math</vt:lpstr>
      <vt:lpstr>Office 主题​​</vt:lpstr>
      <vt:lpstr>Stability Analysis of Foot Placement Methods for Model Predictive Control-based Quadrupedal Trotting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Liwei Mei</dc:creator>
  <cp:lastModifiedBy>Liwei Mei</cp:lastModifiedBy>
  <cp:revision>17</cp:revision>
  <dcterms:created xsi:type="dcterms:W3CDTF">2026-10-31T18:35:38Z</dcterms:created>
  <dcterms:modified xsi:type="dcterms:W3CDTF">2026-11-01T00:39:28Z</dcterms:modified>
</cp:coreProperties>
</file>