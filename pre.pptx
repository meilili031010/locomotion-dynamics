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4" r:id="rId3"/>
    <p:sldId id="265" r:id="rId4"/>
    <p:sldId id="258" r:id="rId5"/>
    <p:sldId id="257" r:id="rId6"/>
    <p:sldId id="260" r:id="rId7"/>
    <p:sldId id="259" r:id="rId8"/>
    <p:sldId id="262" r:id="rId9"/>
    <p:sldId id="263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5"/>
  </p:normalViewPr>
  <p:slideViewPr>
    <p:cSldViewPr snapToGrid="0">
      <p:cViewPr varScale="1">
        <p:scale>
          <a:sx n="142" d="100"/>
          <a:sy n="142" d="100"/>
        </p:scale>
        <p:origin x="8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9345AB-4918-A3C6-07EB-8F51E4D163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A83ED9B-572B-2E32-9511-6FA7CDF512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1614ED7-60D7-276E-72D6-F5CEB43E4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4C883-4F8E-D34E-94FD-1282DC67D150}" type="datetimeFigureOut">
              <a:rPr kumimoji="1" lang="zh-CN" altLang="en-US" smtClean="0"/>
              <a:t>2026/11/1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930EC3-059F-19DA-321D-3088F9D20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609C4ED-E96F-CB90-D1DF-94CAFCF61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FBD46-330E-D04B-96A8-D489D801BB6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112307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4A6335-EB8D-0996-B620-1C6E3019F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254212B-53B9-9CAC-1D1F-4A7A75E0AF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2E6C8A-807B-389A-FC4A-5C6DAACF3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4C883-4F8E-D34E-94FD-1282DC67D150}" type="datetimeFigureOut">
              <a:rPr kumimoji="1" lang="zh-CN" altLang="en-US" smtClean="0"/>
              <a:t>2026/11/1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EA914EA-6E54-68CA-F991-3EF1E2044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738BE9-FA02-FB6D-5CE6-7E1315679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FBD46-330E-D04B-96A8-D489D801BB6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52727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248C93-833F-A2BE-E8B7-12498647D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3CE8077-0099-BA32-EA48-CA95CD3C12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8ACE4D3-F098-A31E-66AA-211700D11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4C883-4F8E-D34E-94FD-1282DC67D150}" type="datetimeFigureOut">
              <a:rPr kumimoji="1" lang="zh-CN" altLang="en-US" smtClean="0"/>
              <a:t>2026/11/1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FF1E871-8BFF-EC5A-9FA7-501782250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D77F1B7-7EFE-EF90-5B38-683793F86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FBD46-330E-D04B-96A8-D489D801BB6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38018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7200F3-390B-FE9B-69C2-6A6E79A44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0ADFE7C-DE5D-A552-BCE2-374DB58F45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4E531C1-EFB7-732A-C644-984B717951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1590C1C-DC31-89A7-5AA7-85F3BD6EA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4C883-4F8E-D34E-94FD-1282DC67D150}" type="datetimeFigureOut">
              <a:rPr kumimoji="1" lang="zh-CN" altLang="en-US" smtClean="0"/>
              <a:t>2026/11/1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B97553B-38C8-A7AF-4D37-6596AF1E2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82AF5D5-DFBC-A756-0E2C-5EBB5AD79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FBD46-330E-D04B-96A8-D489D801BB6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44580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721A46-A09A-B0B3-8484-8C6442391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FB542D1-420B-9AD2-9D5A-7DEE2B0B1B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9F61D18-79D3-41B0-F764-8EFA1B7FF0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F14D64B-8E7A-5CB1-EC72-4BB5DB6F4C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8083DE9-8A5B-9C51-E0AB-CEA81E8027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8FCEC1C-D533-9E11-B798-D922A68FE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4C883-4F8E-D34E-94FD-1282DC67D150}" type="datetimeFigureOut">
              <a:rPr kumimoji="1" lang="zh-CN" altLang="en-US" smtClean="0"/>
              <a:t>2026/11/1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A824DC2-0988-38F5-F26D-676FCACAC3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FF968E0-E6CC-A265-4ABD-0D84796FC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FBD46-330E-D04B-96A8-D489D801BB6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10841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837E1C-9F38-0467-C2E3-B962FD19B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E3DD377-18AC-98E6-A410-2B7201AF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4C883-4F8E-D34E-94FD-1282DC67D150}" type="datetimeFigureOut">
              <a:rPr kumimoji="1" lang="zh-CN" altLang="en-US" smtClean="0"/>
              <a:t>2026/11/1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CAFADFB-121D-1250-8FA8-C4AF5C15C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F6999BC-0D38-BCB2-91BC-A354E9B83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FBD46-330E-D04B-96A8-D489D801BB6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388023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39B9BD8-2D18-7D32-8E5F-47B305A49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4C883-4F8E-D34E-94FD-1282DC67D150}" type="datetimeFigureOut">
              <a:rPr kumimoji="1" lang="zh-CN" altLang="en-US" smtClean="0"/>
              <a:t>2026/11/1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0DB62A6-C928-686E-41B9-1F3399F5F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76BF58E-5E1C-8C40-4E30-47232E657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FBD46-330E-D04B-96A8-D489D801BB6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27763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54322E-5EFC-47A8-AE69-6DC78E4C7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74AC571-3A79-62E5-C059-3E817B592D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C8F55D2-D854-4934-146E-698A8EB1AD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F958C51-41D5-9B13-1D68-72AD18D59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4C883-4F8E-D34E-94FD-1282DC67D150}" type="datetimeFigureOut">
              <a:rPr kumimoji="1" lang="zh-CN" altLang="en-US" smtClean="0"/>
              <a:t>2026/11/1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425DBE1-7A5E-D5A4-B754-56DFE5E894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2ED28BB-C832-9590-05B8-588831822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FBD46-330E-D04B-96A8-D489D801BB6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73117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15FC26-7BF0-6D4D-9F02-E4ECDFC26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2F622B3-3DEC-E41A-C4B6-37BCDA113A4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B7D9BCF-AF50-24CA-1CAA-3EEBC7A4E7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4904053-3E67-E7E1-C574-561A5907C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4C883-4F8E-D34E-94FD-1282DC67D150}" type="datetimeFigureOut">
              <a:rPr kumimoji="1" lang="zh-CN" altLang="en-US" smtClean="0"/>
              <a:t>2026/11/1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FD6BD51-6B37-B2E1-7F04-A6B85F56A0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3881678-F211-5357-0563-83E5F2EA2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FBD46-330E-D04B-96A8-D489D801BB6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201860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C783E4-653F-7418-0112-4742EFDB9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25C7147-45B5-F15D-799B-532D0926C4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43176D3-C25A-5F5A-2F1A-8C1D3FB8F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4C883-4F8E-D34E-94FD-1282DC67D150}" type="datetimeFigureOut">
              <a:rPr kumimoji="1" lang="zh-CN" altLang="en-US" smtClean="0"/>
              <a:t>2026/11/1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CDD8BB2-D42C-5247-6A30-BBDA42B9F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A69391-C2D4-63BD-8A08-8C461549B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FBD46-330E-D04B-96A8-D489D801BB6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200016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8851AE9-C101-D034-4010-24457FBBA5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E202F57-C2D5-A713-1B12-C051F25605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7733378-3645-A5CD-997B-89011F352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4C883-4F8E-D34E-94FD-1282DC67D150}" type="datetimeFigureOut">
              <a:rPr kumimoji="1" lang="zh-CN" altLang="en-US" smtClean="0"/>
              <a:t>2026/11/1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1CADC74-9320-515D-808B-655147525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87A8D7C-2EAA-1C9D-F0CD-0B2DA1FCF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FBD46-330E-D04B-96A8-D489D801BB6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838046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D70F71B-6504-D1D4-67FA-5A98F3A90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5026589-44C3-343E-8D47-6BFDD0DE89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D9B12F4-8174-06BE-8FB4-99DCDAEC83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C4C883-4F8E-D34E-94FD-1282DC67D150}" type="datetimeFigureOut">
              <a:rPr kumimoji="1" lang="zh-CN" altLang="en-US" smtClean="0"/>
              <a:t>2026/11/1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A732FD2-C9E9-4922-7D1C-D730D50D71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5E30811-1FE5-ABC2-F3F0-20948B38D1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3FBD46-330E-D04B-96A8-D489D801BB6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560341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F09B76-04DD-0DED-6BE5-B9BF37BAF7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30941" y="1041400"/>
            <a:ext cx="10130118" cy="2387600"/>
          </a:xfrm>
        </p:spPr>
        <p:txBody>
          <a:bodyPr>
            <a:noAutofit/>
          </a:bodyPr>
          <a:lstStyle/>
          <a:p>
            <a:r>
              <a:rPr kumimoji="1" lang="en-GB" altLang="zh-CN" sz="3600"/>
              <a:t>Stability Analysis of Foot Placement Methods for</a:t>
            </a:r>
            <a:br>
              <a:rPr kumimoji="1" lang="en-GB" altLang="zh-CN" sz="3600"/>
            </a:br>
            <a:r>
              <a:rPr kumimoji="1" lang="en-GB" altLang="zh-CN" sz="3600"/>
              <a:t>Model Predictive Control-based Quadrupedal</a:t>
            </a:r>
            <a:br>
              <a:rPr kumimoji="1" lang="en-GB" altLang="zh-CN" sz="3600"/>
            </a:br>
            <a:r>
              <a:rPr kumimoji="1" lang="en-GB" altLang="zh-CN" sz="3600"/>
              <a:t>Trotting</a:t>
            </a:r>
            <a:endParaRPr kumimoji="1" lang="zh-CN" altLang="en-US" sz="360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733F7F8-46C9-BAF6-B71C-AABB1EE255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zh-CN" dirty="0"/>
              <a:t>Liwei Mei, Qi Guo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346429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58832-41E6-688B-F9AC-1F8A1DF0B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6FBFAD94-0498-6D61-E69E-5ADFBC1DD8A0}"/>
              </a:ext>
            </a:extLst>
          </p:cNvPr>
          <p:cNvSpPr txBox="1"/>
          <p:nvPr/>
        </p:nvSpPr>
        <p:spPr>
          <a:xfrm>
            <a:off x="185420" y="242570"/>
            <a:ext cx="1920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Objects of Study</a:t>
            </a:r>
            <a:endParaRPr lang="zh-CN" altLang="en-US" b="1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AF40700-C2F6-F9AE-3DEB-614A304FF6B7}"/>
              </a:ext>
            </a:extLst>
          </p:cNvPr>
          <p:cNvSpPr txBox="1"/>
          <p:nvPr/>
        </p:nvSpPr>
        <p:spPr>
          <a:xfrm>
            <a:off x="2256904" y="6272879"/>
            <a:ext cx="4725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100" b="0" i="0" spc="29" dirty="0">
                <a:solidFill>
                  <a:schemeClr val="tx1"/>
                </a:solidFill>
                <a:effectLst/>
                <a:latin typeface="+mn-lt"/>
              </a:rPr>
              <a:t>Source: </a:t>
            </a:r>
            <a:r>
              <a:rPr lang="en-US" altLang="zh-CN" sz="1100" spc="29" dirty="0"/>
              <a:t>https://www.animatornotebook.com/learn/quadrupeds-gaits</a:t>
            </a:r>
            <a:endParaRPr lang="zh-CN" altLang="en-US" sz="1100" dirty="0"/>
          </a:p>
        </p:txBody>
      </p:sp>
      <p:pic>
        <p:nvPicPr>
          <p:cNvPr id="6" name="图片 5" descr="Footfall_trot.png">
            <a:extLst>
              <a:ext uri="{FF2B5EF4-FFF2-40B4-BE49-F238E27FC236}">
                <a16:creationId xmlns:a16="http://schemas.microsoft.com/office/drawing/2014/main" id="{89F51C2F-BAD1-BC3F-8B16-5FD8AB45BB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6139" y="3244334"/>
            <a:ext cx="7116339" cy="1779085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73315462-AA9A-DD0B-0B05-5536ED00DC9C}"/>
              </a:ext>
            </a:extLst>
          </p:cNvPr>
          <p:cNvSpPr txBox="1"/>
          <p:nvPr/>
        </p:nvSpPr>
        <p:spPr>
          <a:xfrm>
            <a:off x="185420" y="1072041"/>
            <a:ext cx="22028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Unitree Quadrupeds</a:t>
            </a:r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E721BFB4-AF62-96A6-FB34-861252DCDF41}"/>
              </a:ext>
            </a:extLst>
          </p:cNvPr>
          <p:cNvSpPr txBox="1"/>
          <p:nvPr/>
        </p:nvSpPr>
        <p:spPr>
          <a:xfrm>
            <a:off x="185419" y="3059668"/>
            <a:ext cx="974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Trotting</a:t>
            </a:r>
            <a:endParaRPr lang="zh-CN" altLang="en-US" dirty="0"/>
          </a:p>
        </p:txBody>
      </p:sp>
      <p:pic>
        <p:nvPicPr>
          <p:cNvPr id="22" name="图片 21" descr="Robot Dog Go2_Quadruped_Robot Dog Company | Unitree Robotics">
            <a:extLst>
              <a:ext uri="{FF2B5EF4-FFF2-40B4-BE49-F238E27FC236}">
                <a16:creationId xmlns:a16="http://schemas.microsoft.com/office/drawing/2014/main" id="{2AD90A7E-2D87-F67A-04A2-E136E892F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124" y="647761"/>
            <a:ext cx="2774722" cy="2292999"/>
          </a:xfrm>
          <a:prstGeom prst="rect">
            <a:avLst/>
          </a:prstGeom>
        </p:spPr>
      </p:pic>
      <p:sp>
        <p:nvSpPr>
          <p:cNvPr id="26" name="文本框 25">
            <a:extLst>
              <a:ext uri="{FF2B5EF4-FFF2-40B4-BE49-F238E27FC236}">
                <a16:creationId xmlns:a16="http://schemas.microsoft.com/office/drawing/2014/main" id="{2D175345-8F09-8D6B-BF11-3BD1EE7BBCAB}"/>
              </a:ext>
            </a:extLst>
          </p:cNvPr>
          <p:cNvSpPr txBox="1"/>
          <p:nvPr/>
        </p:nvSpPr>
        <p:spPr>
          <a:xfrm>
            <a:off x="2256904" y="6464614"/>
            <a:ext cx="2665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100" b="0" i="0" spc="29" dirty="0">
                <a:solidFill>
                  <a:schemeClr val="tx1"/>
                </a:solidFill>
                <a:effectLst/>
                <a:latin typeface="+mn-lt"/>
              </a:rPr>
              <a:t>Source: https://youtu.be/oyTKvsnbCcE</a:t>
            </a:r>
            <a:endParaRPr lang="zh-CN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0037230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8CD01-6E52-268E-24A9-CB21FE039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43D29835-F18E-1D3F-588A-7A0725C121E6}"/>
              </a:ext>
            </a:extLst>
          </p:cNvPr>
          <p:cNvSpPr txBox="1"/>
          <p:nvPr/>
        </p:nvSpPr>
        <p:spPr>
          <a:xfrm>
            <a:off x="185420" y="242570"/>
            <a:ext cx="1334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Motivation</a:t>
            </a:r>
            <a:endParaRPr lang="zh-CN" altLang="en-US" b="1" dirty="0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832BE07-5A66-0581-A71F-EADC33FDE762}"/>
              </a:ext>
            </a:extLst>
          </p:cNvPr>
          <p:cNvSpPr/>
          <p:nvPr/>
        </p:nvSpPr>
        <p:spPr>
          <a:xfrm>
            <a:off x="4557624" y="1173819"/>
            <a:ext cx="1510240" cy="800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Body motion planner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5D74C8B-5BB0-0B11-D391-525287ECDDC4}"/>
              </a:ext>
            </a:extLst>
          </p:cNvPr>
          <p:cNvSpPr txBox="1"/>
          <p:nvPr/>
        </p:nvSpPr>
        <p:spPr>
          <a:xfrm>
            <a:off x="2887194" y="346627"/>
            <a:ext cx="5617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Simplify</a:t>
            </a:r>
            <a:r>
              <a:rPr lang="zh-CN" altLang="en-US" dirty="0"/>
              <a:t> </a:t>
            </a:r>
            <a:r>
              <a:rPr lang="en-US" altLang="zh-CN" dirty="0"/>
              <a:t>torso motion as unconstrained single rigid-body motion subject to ground force from </a:t>
            </a:r>
            <a:r>
              <a:rPr lang="en-US" altLang="zh-CN" b="1" dirty="0"/>
              <a:t>stance leg</a:t>
            </a:r>
            <a:endParaRPr lang="zh-CN" altLang="en-US" b="1" dirty="0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ED70FA2-F724-55A9-95AA-F3C56B57F2EE}"/>
              </a:ext>
            </a:extLst>
          </p:cNvPr>
          <p:cNvSpPr/>
          <p:nvPr/>
        </p:nvSpPr>
        <p:spPr>
          <a:xfrm>
            <a:off x="1480646" y="3362526"/>
            <a:ext cx="1350733" cy="800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Gait Scheduler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F4363BB-9E55-E595-266A-B552F3DD23D5}"/>
              </a:ext>
            </a:extLst>
          </p:cNvPr>
          <p:cNvSpPr txBox="1"/>
          <p:nvPr/>
        </p:nvSpPr>
        <p:spPr>
          <a:xfrm>
            <a:off x="2652112" y="3516295"/>
            <a:ext cx="36127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Stance/swing phase planning</a:t>
            </a:r>
          </a:p>
          <a:p>
            <a:pPr algn="ctr"/>
            <a:r>
              <a:rPr lang="en-US" altLang="zh-CN" dirty="0"/>
              <a:t>+ foot trajectory</a:t>
            </a:r>
            <a:endParaRPr lang="zh-CN" altLang="en-US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90D5D96-BA03-55BD-AEA5-8718437EAA13}"/>
              </a:ext>
            </a:extLst>
          </p:cNvPr>
          <p:cNvSpPr/>
          <p:nvPr/>
        </p:nvSpPr>
        <p:spPr>
          <a:xfrm>
            <a:off x="4637378" y="5240985"/>
            <a:ext cx="1350733" cy="800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Joint</a:t>
            </a:r>
          </a:p>
          <a:p>
            <a:pPr algn="ctr"/>
            <a:r>
              <a:rPr lang="en-US" altLang="zh-CN" dirty="0"/>
              <a:t>Controller</a:t>
            </a:r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BB91C4FE-4356-6A08-0A8F-02958EEBDABB}"/>
              </a:ext>
            </a:extLst>
          </p:cNvPr>
          <p:cNvSpPr txBox="1"/>
          <p:nvPr/>
        </p:nvSpPr>
        <p:spPr>
          <a:xfrm>
            <a:off x="3591337" y="6105145"/>
            <a:ext cx="35766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/>
              <a:t> Inverse dynamics + PD controller</a:t>
            </a:r>
            <a:endParaRPr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4807A9D6-AD80-77A9-09BC-AA019B7982B1}"/>
                  </a:ext>
                </a:extLst>
              </p:cNvPr>
              <p:cNvSpPr txBox="1"/>
              <p:nvPr/>
            </p:nvSpPr>
            <p:spPr>
              <a:xfrm>
                <a:off x="2966722" y="4652262"/>
                <a:ext cx="409023" cy="5186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4807A9D6-AD80-77A9-09BC-AA019B798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722" y="4652262"/>
                <a:ext cx="409023" cy="51860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5E9375DD-D899-8578-0FD3-EC4A1E12F096}"/>
                  </a:ext>
                </a:extLst>
              </p:cNvPr>
              <p:cNvSpPr txBox="1"/>
              <p:nvPr/>
            </p:nvSpPr>
            <p:spPr>
              <a:xfrm>
                <a:off x="2933150" y="2264696"/>
                <a:ext cx="7686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altLang="zh-CN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𝐻𝑧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5E9375DD-D899-8578-0FD3-EC4A1E12F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3150" y="2264696"/>
                <a:ext cx="768608" cy="276999"/>
              </a:xfrm>
              <a:prstGeom prst="rect">
                <a:avLst/>
              </a:prstGeom>
              <a:blipFill>
                <a:blip r:embed="rId3"/>
                <a:stretch>
                  <a:fillRect l="-794" r="-7143" b="-88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B2078818-B8FA-030B-5F65-42BFF43ED899}"/>
                  </a:ext>
                </a:extLst>
              </p:cNvPr>
              <p:cNvSpPr txBox="1"/>
              <p:nvPr/>
            </p:nvSpPr>
            <p:spPr>
              <a:xfrm>
                <a:off x="6856198" y="4888008"/>
                <a:ext cx="7670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altLang="zh-CN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𝑘𝐻𝑧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B2078818-B8FA-030B-5F65-42BFF43ED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6198" y="4888008"/>
                <a:ext cx="767005" cy="276999"/>
              </a:xfrm>
              <a:prstGeom prst="rect">
                <a:avLst/>
              </a:prstGeom>
              <a:blipFill>
                <a:blip r:embed="rId4"/>
                <a:stretch>
                  <a:fillRect l="-1587" r="-6349" b="-88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弧形 10">
            <a:extLst>
              <a:ext uri="{FF2B5EF4-FFF2-40B4-BE49-F238E27FC236}">
                <a16:creationId xmlns:a16="http://schemas.microsoft.com/office/drawing/2014/main" id="{2F232A10-4D60-5B3E-68BF-2B0CA64C33F4}"/>
              </a:ext>
            </a:extLst>
          </p:cNvPr>
          <p:cNvSpPr/>
          <p:nvPr/>
        </p:nvSpPr>
        <p:spPr>
          <a:xfrm>
            <a:off x="2187389" y="1601017"/>
            <a:ext cx="6873375" cy="3343724"/>
          </a:xfrm>
          <a:prstGeom prst="arc">
            <a:avLst>
              <a:gd name="adj1" fmla="val 11021206"/>
              <a:gd name="adj2" fmla="val 13552831"/>
            </a:avLst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5A99423-8671-8E1C-5344-BDDF3DBF92C2}"/>
              </a:ext>
            </a:extLst>
          </p:cNvPr>
          <p:cNvSpPr txBox="1"/>
          <p:nvPr/>
        </p:nvSpPr>
        <p:spPr>
          <a:xfrm>
            <a:off x="1101217" y="2109515"/>
            <a:ext cx="17078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Planned torso velocity</a:t>
            </a:r>
            <a:endParaRPr lang="zh-CN" altLang="en-US" dirty="0"/>
          </a:p>
        </p:txBody>
      </p:sp>
      <p:sp>
        <p:nvSpPr>
          <p:cNvPr id="6" name="弧形 5">
            <a:extLst>
              <a:ext uri="{FF2B5EF4-FFF2-40B4-BE49-F238E27FC236}">
                <a16:creationId xmlns:a16="http://schemas.microsoft.com/office/drawing/2014/main" id="{75AEC6DA-3ABC-0443-8C3C-FDB488920197}"/>
              </a:ext>
            </a:extLst>
          </p:cNvPr>
          <p:cNvSpPr/>
          <p:nvPr/>
        </p:nvSpPr>
        <p:spPr>
          <a:xfrm>
            <a:off x="2063351" y="2335640"/>
            <a:ext cx="6873375" cy="3343724"/>
          </a:xfrm>
          <a:prstGeom prst="arc">
            <a:avLst>
              <a:gd name="adj1" fmla="val 7517971"/>
              <a:gd name="adj2" fmla="val 10470346"/>
            </a:avLst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216C0BE-8A78-B22D-B8AC-DEDE41BA14BC}"/>
              </a:ext>
            </a:extLst>
          </p:cNvPr>
          <p:cNvSpPr txBox="1"/>
          <p:nvPr/>
        </p:nvSpPr>
        <p:spPr>
          <a:xfrm>
            <a:off x="1463338" y="5212325"/>
            <a:ext cx="1707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Foot trajectory</a:t>
            </a:r>
            <a:endParaRPr lang="zh-CN" altLang="en-US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FD798EC-88F5-4194-216E-5640EE412FF5}"/>
              </a:ext>
            </a:extLst>
          </p:cNvPr>
          <p:cNvSpPr/>
          <p:nvPr/>
        </p:nvSpPr>
        <p:spPr>
          <a:xfrm>
            <a:off x="7834069" y="3362526"/>
            <a:ext cx="1350733" cy="800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Quadruped</a:t>
            </a:r>
            <a:endParaRPr lang="zh-CN" altLang="en-US" dirty="0"/>
          </a:p>
        </p:txBody>
      </p:sp>
      <p:sp>
        <p:nvSpPr>
          <p:cNvPr id="24" name="弧形 23">
            <a:extLst>
              <a:ext uri="{FF2B5EF4-FFF2-40B4-BE49-F238E27FC236}">
                <a16:creationId xmlns:a16="http://schemas.microsoft.com/office/drawing/2014/main" id="{679684E3-DB44-D6C5-CB02-3ECFF1F19E93}"/>
              </a:ext>
            </a:extLst>
          </p:cNvPr>
          <p:cNvSpPr/>
          <p:nvPr/>
        </p:nvSpPr>
        <p:spPr>
          <a:xfrm>
            <a:off x="1631650" y="2417407"/>
            <a:ext cx="6873375" cy="3343724"/>
          </a:xfrm>
          <a:prstGeom prst="arc">
            <a:avLst>
              <a:gd name="adj1" fmla="val 220815"/>
              <a:gd name="adj2" fmla="val 3345563"/>
            </a:avLst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弧形 27">
            <a:extLst>
              <a:ext uri="{FF2B5EF4-FFF2-40B4-BE49-F238E27FC236}">
                <a16:creationId xmlns:a16="http://schemas.microsoft.com/office/drawing/2014/main" id="{061A1A01-A27C-019A-0A86-9F57E3146904}"/>
              </a:ext>
            </a:extLst>
          </p:cNvPr>
          <p:cNvSpPr/>
          <p:nvPr/>
        </p:nvSpPr>
        <p:spPr>
          <a:xfrm>
            <a:off x="1693669" y="1755539"/>
            <a:ext cx="6873375" cy="3343724"/>
          </a:xfrm>
          <a:prstGeom prst="arc">
            <a:avLst>
              <a:gd name="adj1" fmla="val 18673134"/>
              <a:gd name="adj2" fmla="val 21069632"/>
            </a:avLst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89A89CFF-5BA3-5E10-BF4A-2EFE0FFCEB8B}"/>
              </a:ext>
            </a:extLst>
          </p:cNvPr>
          <p:cNvSpPr txBox="1"/>
          <p:nvPr/>
        </p:nvSpPr>
        <p:spPr>
          <a:xfrm>
            <a:off x="7802081" y="5115271"/>
            <a:ext cx="1707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Joint torque</a:t>
            </a:r>
            <a:endParaRPr lang="zh-CN" altLang="en-US" dirty="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386A4B88-27C4-6F71-3E3E-52D9506AFBAB}"/>
              </a:ext>
            </a:extLst>
          </p:cNvPr>
          <p:cNvSpPr txBox="1"/>
          <p:nvPr/>
        </p:nvSpPr>
        <p:spPr>
          <a:xfrm>
            <a:off x="7999722" y="2143571"/>
            <a:ext cx="1707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Real velocity</a:t>
            </a:r>
            <a:endParaRPr lang="zh-CN" altLang="en-US" dirty="0"/>
          </a:p>
        </p:txBody>
      </p:sp>
      <p:sp>
        <p:nvSpPr>
          <p:cNvPr id="38" name="弧形 37">
            <a:extLst>
              <a:ext uri="{FF2B5EF4-FFF2-40B4-BE49-F238E27FC236}">
                <a16:creationId xmlns:a16="http://schemas.microsoft.com/office/drawing/2014/main" id="{EF5E736B-E194-BED4-F2E4-810D0D228714}"/>
              </a:ext>
            </a:extLst>
          </p:cNvPr>
          <p:cNvSpPr/>
          <p:nvPr/>
        </p:nvSpPr>
        <p:spPr>
          <a:xfrm>
            <a:off x="1631650" y="2985462"/>
            <a:ext cx="6873375" cy="2199251"/>
          </a:xfrm>
          <a:prstGeom prst="arc">
            <a:avLst>
              <a:gd name="adj1" fmla="val 12329361"/>
              <a:gd name="adj2" fmla="val 20465422"/>
            </a:avLst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4CEF88B-56E5-6146-B592-BC124C5A8B62}"/>
              </a:ext>
            </a:extLst>
          </p:cNvPr>
          <p:cNvSpPr txBox="1"/>
          <p:nvPr/>
        </p:nvSpPr>
        <p:spPr>
          <a:xfrm>
            <a:off x="4714157" y="2559858"/>
            <a:ext cx="1707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Real velocity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13469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1FAB6-CAAE-38E7-1535-4637C8249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60F819B1-FF07-1AE9-B113-9C23028DB5F8}"/>
              </a:ext>
            </a:extLst>
          </p:cNvPr>
          <p:cNvSpPr txBox="1"/>
          <p:nvPr/>
        </p:nvSpPr>
        <p:spPr>
          <a:xfrm>
            <a:off x="185420" y="242570"/>
            <a:ext cx="1334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Motivation</a:t>
            </a:r>
            <a:endParaRPr lang="zh-CN" altLang="en-US" b="1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1AFA4A2-BD2A-2577-930C-417A5EBA9671}"/>
              </a:ext>
            </a:extLst>
          </p:cNvPr>
          <p:cNvSpPr txBox="1"/>
          <p:nvPr/>
        </p:nvSpPr>
        <p:spPr>
          <a:xfrm>
            <a:off x="185420" y="790853"/>
            <a:ext cx="28488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zh-CN" dirty="0"/>
              <a:t>Foot placement</a:t>
            </a:r>
          </a:p>
          <a:p>
            <a:pPr marL="342900" indent="-342900">
              <a:buAutoNum type="arabicPeriod"/>
            </a:pPr>
            <a:r>
              <a:rPr lang="en-US" altLang="zh-CN" dirty="0"/>
              <a:t>Phase ?</a:t>
            </a:r>
          </a:p>
          <a:p>
            <a:pPr marL="342900" indent="-342900">
              <a:buAutoNum type="arabicPeriod"/>
            </a:pPr>
            <a:r>
              <a:rPr lang="en-US" altLang="zh-CN" dirty="0"/>
              <a:t>Compatible with MPC ?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310355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3A95E442-36D0-88A8-A099-53143233BDC4}"/>
                  </a:ext>
                </a:extLst>
              </p:cNvPr>
              <p:cNvSpPr txBox="1"/>
              <p:nvPr/>
            </p:nvSpPr>
            <p:spPr>
              <a:xfrm>
                <a:off x="2529683" y="1370636"/>
                <a:ext cx="15175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3A95E442-36D0-88A8-A099-53143233BD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9683" y="1370636"/>
                <a:ext cx="1517531" cy="276999"/>
              </a:xfrm>
              <a:prstGeom prst="rect">
                <a:avLst/>
              </a:prstGeom>
              <a:blipFill>
                <a:blip r:embed="rId2"/>
                <a:stretch>
                  <a:fillRect l="-1606" t="-2222" r="-4819" b="-355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文本框 8">
            <a:extLst>
              <a:ext uri="{FF2B5EF4-FFF2-40B4-BE49-F238E27FC236}">
                <a16:creationId xmlns:a16="http://schemas.microsoft.com/office/drawing/2014/main" id="{AE06144B-072F-C2DD-CDA7-82A0D67AA3BC}"/>
              </a:ext>
            </a:extLst>
          </p:cNvPr>
          <p:cNvSpPr txBox="1"/>
          <p:nvPr/>
        </p:nvSpPr>
        <p:spPr>
          <a:xfrm>
            <a:off x="185420" y="242570"/>
            <a:ext cx="144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Background</a:t>
            </a:r>
            <a:endParaRPr lang="zh-CN" altLang="en-US" b="1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D2B6F3F-EB1C-AEB2-D06B-0FE50C66750F}"/>
              </a:ext>
            </a:extLst>
          </p:cNvPr>
          <p:cNvSpPr txBox="1"/>
          <p:nvPr/>
        </p:nvSpPr>
        <p:spPr>
          <a:xfrm>
            <a:off x="185420" y="790853"/>
            <a:ext cx="7853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Model Simplification: Torso (move in generalized coordinates) + massless legs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9A87ADF-0FE0-464C-9FEA-562893E40C22}"/>
              </a:ext>
            </a:extLst>
          </p:cNvPr>
          <p:cNvSpPr txBox="1"/>
          <p:nvPr/>
        </p:nvSpPr>
        <p:spPr>
          <a:xfrm>
            <a:off x="185420" y="1324470"/>
            <a:ext cx="684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State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772488BA-EA37-8D8E-A263-F075B1499C3C}"/>
                  </a:ext>
                </a:extLst>
              </p:cNvPr>
              <p:cNvSpPr txBox="1"/>
              <p:nvPr/>
            </p:nvSpPr>
            <p:spPr>
              <a:xfrm>
                <a:off x="2529683" y="1752600"/>
                <a:ext cx="1817997" cy="672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𝑚</m:t>
                      </m:r>
                      <m:acc>
                        <m:accPr>
                          <m:chr m:val="̇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𝑚𝑔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772488BA-EA37-8D8E-A263-F075B1499C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9683" y="1752600"/>
                <a:ext cx="1817997" cy="67223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文本框 13">
            <a:extLst>
              <a:ext uri="{FF2B5EF4-FFF2-40B4-BE49-F238E27FC236}">
                <a16:creationId xmlns:a16="http://schemas.microsoft.com/office/drawing/2014/main" id="{8CB0D970-00ED-D257-F235-C36F570256BE}"/>
              </a:ext>
            </a:extLst>
          </p:cNvPr>
          <p:cNvSpPr txBox="1"/>
          <p:nvPr/>
        </p:nvSpPr>
        <p:spPr>
          <a:xfrm>
            <a:off x="185420" y="1858086"/>
            <a:ext cx="18293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Dynamics model</a:t>
            </a:r>
            <a:endParaRPr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CE1296F-3E54-7B8E-4995-6964789A741D}"/>
                  </a:ext>
                </a:extLst>
              </p:cNvPr>
              <p:cNvSpPr txBox="1"/>
              <p:nvPr/>
            </p:nvSpPr>
            <p:spPr>
              <a:xfrm>
                <a:off x="4923633" y="1752600"/>
                <a:ext cx="1942583" cy="67249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dt</m:t>
                          </m:r>
                        </m:den>
                      </m:f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)≈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CE1296F-3E54-7B8E-4995-6964789A7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3633" y="1752600"/>
                <a:ext cx="1942583" cy="67249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1F7F4401-1AC9-077E-365F-219603796C58}"/>
                  </a:ext>
                </a:extLst>
              </p:cNvPr>
              <p:cNvSpPr txBox="1"/>
              <p:nvPr/>
            </p:nvSpPr>
            <p:spPr>
              <a:xfrm>
                <a:off x="7310447" y="1950217"/>
                <a:ext cx="145680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zh-CN" dirty="0"/>
                  <a:t>stance legs</a:t>
                </a:r>
                <a:endParaRPr lang="zh-CN" altLang="en-US" dirty="0"/>
              </a:p>
            </p:txBody>
          </p:sp>
        </mc:Choice>
        <mc:Fallback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1F7F4401-1AC9-077E-365F-219603796C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0447" y="1950217"/>
                <a:ext cx="1456809" cy="276999"/>
              </a:xfrm>
              <a:prstGeom prst="rect">
                <a:avLst/>
              </a:prstGeom>
              <a:blipFill>
                <a:blip r:embed="rId5"/>
                <a:stretch>
                  <a:fillRect l="-5439" t="-28889" r="-9623" b="-511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文本框 18">
            <a:extLst>
              <a:ext uri="{FF2B5EF4-FFF2-40B4-BE49-F238E27FC236}">
                <a16:creationId xmlns:a16="http://schemas.microsoft.com/office/drawing/2014/main" id="{84E35AC0-19CA-772B-3D88-651896C13FDE}"/>
              </a:ext>
            </a:extLst>
          </p:cNvPr>
          <p:cNvSpPr txBox="1"/>
          <p:nvPr/>
        </p:nvSpPr>
        <p:spPr>
          <a:xfrm>
            <a:off x="185420" y="3178886"/>
            <a:ext cx="1172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Controller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777663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1D841-F4FB-4B38-DADF-8E846184F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D1D645B3-8BE5-34A7-1C43-3C8E107D4A76}"/>
              </a:ext>
            </a:extLst>
          </p:cNvPr>
          <p:cNvSpPr txBox="1"/>
          <p:nvPr/>
        </p:nvSpPr>
        <p:spPr>
          <a:xfrm>
            <a:off x="185420" y="242570"/>
            <a:ext cx="2576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Controller Formulation</a:t>
            </a:r>
            <a:endParaRPr lang="zh-CN" altLang="en-US" b="1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836F9C8-C82C-EAC0-9D64-7A89439A0955}"/>
              </a:ext>
            </a:extLst>
          </p:cNvPr>
          <p:cNvSpPr txBox="1"/>
          <p:nvPr/>
        </p:nvSpPr>
        <p:spPr>
          <a:xfrm>
            <a:off x="185420" y="882650"/>
            <a:ext cx="3419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MPC controller for torso motion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3E24CDE-0A4B-594D-55CB-9701630885B1}"/>
              </a:ext>
            </a:extLst>
          </p:cNvPr>
          <p:cNvSpPr txBox="1"/>
          <p:nvPr/>
        </p:nvSpPr>
        <p:spPr>
          <a:xfrm>
            <a:off x="203537" y="1631950"/>
            <a:ext cx="2664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Discrete dynamics model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CC1782B-3E78-126A-AFDD-FC6C0B5DAD38}"/>
              </a:ext>
            </a:extLst>
          </p:cNvPr>
          <p:cNvSpPr txBox="1"/>
          <p:nvPr/>
        </p:nvSpPr>
        <p:spPr>
          <a:xfrm>
            <a:off x="203537" y="2323584"/>
            <a:ext cx="2682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Optimization formulation</a:t>
            </a:r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9983BE2-0E92-8B7E-E7C8-4DDB76735D76}"/>
              </a:ext>
            </a:extLst>
          </p:cNvPr>
          <p:cNvSpPr txBox="1"/>
          <p:nvPr/>
        </p:nvSpPr>
        <p:spPr>
          <a:xfrm>
            <a:off x="203537" y="3015218"/>
            <a:ext cx="18069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Phase constraint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86687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946AE-EF9C-22A0-1EE7-C06028DC6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ED674482-EA25-DA50-9857-CD6D21A83E4E}"/>
              </a:ext>
            </a:extLst>
          </p:cNvPr>
          <p:cNvSpPr txBox="1"/>
          <p:nvPr/>
        </p:nvSpPr>
        <p:spPr>
          <a:xfrm>
            <a:off x="185420" y="242570"/>
            <a:ext cx="2805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Foot Placement methods</a:t>
            </a:r>
            <a:endParaRPr lang="zh-CN" altLang="en-US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1E67BCE-22EB-7376-6EC3-8E3878B75EB0}"/>
              </a:ext>
            </a:extLst>
          </p:cNvPr>
          <p:cNvSpPr txBox="1"/>
          <p:nvPr/>
        </p:nvSpPr>
        <p:spPr>
          <a:xfrm>
            <a:off x="185420" y="898162"/>
            <a:ext cx="1486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1. Open loop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C04776EA-4E42-1208-3110-B0918724EC83}"/>
                  </a:ext>
                </a:extLst>
              </p:cNvPr>
              <p:cNvSpPr txBox="1"/>
              <p:nvPr/>
            </p:nvSpPr>
            <p:spPr>
              <a:xfrm>
                <a:off x="4134925" y="898162"/>
                <a:ext cx="750526" cy="2819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C04776EA-4E42-1208-3110-B0918724EC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4925" y="898162"/>
                <a:ext cx="750526" cy="281937"/>
              </a:xfrm>
              <a:prstGeom prst="rect">
                <a:avLst/>
              </a:prstGeom>
              <a:blipFill>
                <a:blip r:embed="rId2"/>
                <a:stretch>
                  <a:fillRect l="-6504" t="-2128" r="-813" b="-234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文本框 12">
            <a:extLst>
              <a:ext uri="{FF2B5EF4-FFF2-40B4-BE49-F238E27FC236}">
                <a16:creationId xmlns:a16="http://schemas.microsoft.com/office/drawing/2014/main" id="{E98CAE0B-7DF3-055E-D920-1040B2578032}"/>
              </a:ext>
            </a:extLst>
          </p:cNvPr>
          <p:cNvSpPr txBox="1"/>
          <p:nvPr/>
        </p:nvSpPr>
        <p:spPr>
          <a:xfrm>
            <a:off x="185420" y="1717312"/>
            <a:ext cx="2893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2. Raibert Heuristic Method</a:t>
            </a:r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03CA60D-AB84-FBC5-4EB5-656BE5ED8354}"/>
              </a:ext>
            </a:extLst>
          </p:cNvPr>
          <p:cNvSpPr txBox="1"/>
          <p:nvPr/>
        </p:nvSpPr>
        <p:spPr>
          <a:xfrm>
            <a:off x="185420" y="2582629"/>
            <a:ext cx="3704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3. Linear inverted pendulum mode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28467A15-EBD8-01B1-0E79-A3E89B1CD85A}"/>
                  </a:ext>
                </a:extLst>
              </p:cNvPr>
              <p:cNvSpPr txBox="1"/>
              <p:nvPr/>
            </p:nvSpPr>
            <p:spPr>
              <a:xfrm>
                <a:off x="4134925" y="1592118"/>
                <a:ext cx="2186688" cy="57849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</m:num>
                        <m:den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28467A15-EBD8-01B1-0E79-A3E89B1CD8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4925" y="1592118"/>
                <a:ext cx="2186688" cy="57849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7BA29339-443E-021C-4B80-873B1B6744C5}"/>
                  </a:ext>
                </a:extLst>
              </p:cNvPr>
              <p:cNvSpPr txBox="1"/>
              <p:nvPr/>
            </p:nvSpPr>
            <p:spPr>
              <a:xfrm>
                <a:off x="4134925" y="2486064"/>
                <a:ext cx="980140" cy="5597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</m:num>
                        <m:den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7BA29339-443E-021C-4B80-873B1B6744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4925" y="2486064"/>
                <a:ext cx="980140" cy="5597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文本框 22">
            <a:extLst>
              <a:ext uri="{FF2B5EF4-FFF2-40B4-BE49-F238E27FC236}">
                <a16:creationId xmlns:a16="http://schemas.microsoft.com/office/drawing/2014/main" id="{99A08A0D-DF28-F826-0432-D14068D5C5EA}"/>
              </a:ext>
            </a:extLst>
          </p:cNvPr>
          <p:cNvSpPr txBox="1"/>
          <p:nvPr/>
        </p:nvSpPr>
        <p:spPr>
          <a:xfrm>
            <a:off x="185420" y="4730508"/>
            <a:ext cx="3256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4. Optimization-based method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B56A6E0-C119-E464-3770-C3097CC2FDDF}"/>
              </a:ext>
            </a:extLst>
          </p:cNvPr>
          <p:cNvSpPr txBox="1"/>
          <p:nvPr/>
        </p:nvSpPr>
        <p:spPr>
          <a:xfrm>
            <a:off x="622300" y="3721374"/>
            <a:ext cx="3066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+ Parameterized curve fitting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918520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FE33E-8344-119C-2418-749B7DB78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475F9863-7733-2B8F-1844-DF520329875A}"/>
              </a:ext>
            </a:extLst>
          </p:cNvPr>
          <p:cNvSpPr txBox="1"/>
          <p:nvPr/>
        </p:nvSpPr>
        <p:spPr>
          <a:xfrm>
            <a:off x="185420" y="242570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Metrics</a:t>
            </a:r>
            <a:endParaRPr lang="zh-CN" altLang="en-US" b="1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CAFDED4-51A8-AAAD-DD8B-28C44396D0B9}"/>
              </a:ext>
            </a:extLst>
          </p:cNvPr>
          <p:cNvSpPr txBox="1"/>
          <p:nvPr/>
        </p:nvSpPr>
        <p:spPr>
          <a:xfrm>
            <a:off x="185420" y="1746250"/>
            <a:ext cx="19607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Poincare segment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4E30E36-B425-86E1-46CA-4B7363BD71CE}"/>
              </a:ext>
            </a:extLst>
          </p:cNvPr>
          <p:cNvSpPr txBox="1"/>
          <p:nvPr/>
        </p:nvSpPr>
        <p:spPr>
          <a:xfrm>
            <a:off x="185420" y="901700"/>
            <a:ext cx="1895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Augmented state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DA82056-7644-2741-6DDC-691F8B08CDF9}"/>
              </a:ext>
            </a:extLst>
          </p:cNvPr>
          <p:cNvSpPr txBox="1"/>
          <p:nvPr/>
        </p:nvSpPr>
        <p:spPr>
          <a:xfrm>
            <a:off x="185420" y="2590800"/>
            <a:ext cx="1346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Return map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FE9C30C-6A7E-E9C3-5B90-29856BF0E84B}"/>
              </a:ext>
            </a:extLst>
          </p:cNvPr>
          <p:cNvSpPr txBox="1"/>
          <p:nvPr/>
        </p:nvSpPr>
        <p:spPr>
          <a:xfrm>
            <a:off x="185420" y="3435350"/>
            <a:ext cx="19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Floquet</a:t>
            </a:r>
            <a:r>
              <a:rPr lang="en-US" altLang="zh-CN" dirty="0"/>
              <a:t> multiplier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447130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82401-8432-E02B-50EA-20382C5C7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37895967-200D-BBA0-AE23-FB920EE076F0}"/>
              </a:ext>
            </a:extLst>
          </p:cNvPr>
          <p:cNvSpPr txBox="1"/>
          <p:nvPr/>
        </p:nvSpPr>
        <p:spPr>
          <a:xfrm>
            <a:off x="185420" y="242570"/>
            <a:ext cx="1301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Tech Stack</a:t>
            </a:r>
            <a:endParaRPr lang="zh-CN" altLang="en-US" b="1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9266749-AFB6-5682-9559-E91F2140D59E}"/>
              </a:ext>
            </a:extLst>
          </p:cNvPr>
          <p:cNvSpPr txBox="1"/>
          <p:nvPr/>
        </p:nvSpPr>
        <p:spPr>
          <a:xfrm>
            <a:off x="185420" y="901700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Simulation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8894B90-49B2-321A-1B1C-E6B5DA87ABBE}"/>
              </a:ext>
            </a:extLst>
          </p:cNvPr>
          <p:cNvSpPr txBox="1"/>
          <p:nvPr/>
        </p:nvSpPr>
        <p:spPr>
          <a:xfrm>
            <a:off x="185420" y="1492250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MPC Solver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056080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</TotalTime>
  <Words>259</Words>
  <Application>Microsoft Office PowerPoint</Application>
  <PresentationFormat>宽屏</PresentationFormat>
  <Paragraphs>60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4" baseType="lpstr">
      <vt:lpstr>等线</vt:lpstr>
      <vt:lpstr>等线 Light</vt:lpstr>
      <vt:lpstr>Arial</vt:lpstr>
      <vt:lpstr>Cambria Math</vt:lpstr>
      <vt:lpstr>Office 主题​​</vt:lpstr>
      <vt:lpstr>Stability Analysis of Foot Placement Methods for Model Predictive Control-based Quadrupedal Trotting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Liwei Mei</dc:creator>
  <cp:lastModifiedBy>Liwei Mei</cp:lastModifiedBy>
  <cp:revision>24</cp:revision>
  <dcterms:created xsi:type="dcterms:W3CDTF">2026-10-31T18:35:38Z</dcterms:created>
  <dcterms:modified xsi:type="dcterms:W3CDTF">2026-11-02T02:51:56Z</dcterms:modified>
</cp:coreProperties>
</file>